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DATA-VALIDATION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Jobs Numbers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three state-level labor-market datasets actually look like — before you model them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836115" cy="457200"/>
          </a:xfrm>
          <a:prstGeom prst="roundRect">
            <a:avLst>
              <a:gd name="adj" fmla="val 16000"/>
            </a:avLst>
          </a:prstGeom>
          <a:solidFill>
            <a:srgbClr val="2F8F4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51960"/>
            <a:ext cx="1836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claims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33395" y="4251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2933395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unemployment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45075" y="4251960"/>
            <a:ext cx="1836115" cy="457200"/>
          </a:xfrm>
          <a:prstGeom prst="roundRect">
            <a:avLst>
              <a:gd name="adj" fmla="val 16000"/>
            </a:avLst>
          </a:prstGeom>
          <a:solidFill>
            <a:srgbClr val="C77A20"/>
          </a:solidFill>
          <a:ln/>
        </p:spPr>
      </p:sp>
      <p:sp>
        <p:nvSpPr>
          <p:cNvPr id="10" name="Text 8"/>
          <p:cNvSpPr/>
          <p:nvPr/>
        </p:nvSpPr>
        <p:spPr>
          <a:xfrm>
            <a:off x="4945075" y="4251960"/>
            <a:ext cx="1836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Nonfarm payrolls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2E4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states + DC   ·   FRED / ALFRED point-in-time archive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cleared core validation — 55 checks: 38 PASS · 17 WARN · 0 FAIL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series that look interchangeable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fresh reads on the US job market — one weekly, two monthly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most-used inputs in applied macro: forecasts, lead-lag studies, backtests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look like three tidy versions of the same labor market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— and the differences are exactly what quietly break a model</a:t>
            </a:r>
            <a:endParaRPr lang="en-US" sz="15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5156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F8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Continued claims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count of people still claiming unemployment insurance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U3 unemployment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headline jobless rate — a bounded percentage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77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Nonfarm payrolls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jobs on employer payrolls — an unbounded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plain questions, one point-in-time archive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series runs through the same four checks using ALFRED — the archive that remembers not just today's value, but the value printed on the day it was first released.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even well-formed?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states, keys, valid values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3317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4380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clock does it run on?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4380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frequency; missing periods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actually learn the number?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828800" y="4846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lag &amp; the point-in-time boundary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8862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434340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43800" y="4206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it change after you learn it?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543800" y="4846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behaviour — the operative split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868680" cy="566928"/>
          </a:xfrm>
          <a:prstGeom prst="roundRect">
            <a:avLst>
              <a:gd name="adj" fmla="val 14516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even well-formed?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the basics: 51 states, one value per period, no duplicate keys, no missing fields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 part is what a “valid value” means for each series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 counts → should be positive; the 1986 start-up hides a handful of zeros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zeros are harmless; interior zeros are real dropouts — treat as missing, never average through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05856" y="2407072"/>
            <a:ext cx="6053328" cy="222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461936"/>
            <a:ext cx="5943600" cy="21170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56875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V1: blue zeros are harmless start-up; red interior zeros must be treated as missing.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rate that cycles, one count that trends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unemployment rate is bounded (~2–30%), quantized to 0.1pp, and cyclical — no long-run trend</a:t>
            </a:r>
            <a:endParaRPr lang="en-US" sz="14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 are an unbounded count that mostly just grows — 51 states climbing near-parallel</a:t>
            </a:r>
            <a:endParaRPr lang="en-US" sz="14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series mean-reverts; the other trends</a:t>
            </a:r>
            <a:endParaRPr lang="en-US" sz="14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distinction decides how you transform each one before it reaches a model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522976" y="1273478"/>
            <a:ext cx="6236208" cy="20707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7" name="Image 0" descr="exp/p0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8342"/>
            <a:ext cx="6126480" cy="19610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335584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U3: a bounded, cyclical rate — rises together in recessions, settles back.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22976" y="3695889"/>
            <a:ext cx="6236208" cy="2072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10" name="Image 1" descr="exp/p0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750753"/>
            <a:ext cx="6126480" cy="19625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577900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Payrolls: an unbounded, trending count — a different mathematical object.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868680" cy="566928"/>
          </a:xfrm>
          <a:prstGeom prst="roundRect">
            <a:avLst>
              <a:gd name="adj" fmla="val 14516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clock does it run 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 weekly, stamped to the Saturday that ends the week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and payrolls are monthly, keyed to the pay period containing the 12th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 are mostly clean; claims gaps cluster in the noisy 1986–88 start-up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 is absent for everyone — the late-2025 federal shutdown; flag it, don’t interpolate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05856" y="1985435"/>
            <a:ext cx="6053328" cy="307000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040299"/>
            <a:ext cx="5943600" cy="296028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56875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V2: gaps cluster in 1986–88; the panel is otherwise complete to the present.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868680" cy="566928"/>
          </a:xfrm>
          <a:prstGeom prst="roundRect">
            <a:avLst>
              <a:gd name="adj" fmla="val 14516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actually learn the number?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has two birthdays: the period it measures, and the day it became public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 them and you build a model that ‘knew’ things before anyone could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every feature on the second date — never the first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of claims is measured on its Saturday, but only public ~2 weeks later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97296" y="2760419"/>
            <a:ext cx="5961888" cy="133716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815283"/>
            <a:ext cx="5852160" cy="12274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53218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measured on its Saturday, public ~12–13 days later. Join on the second date.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Timeliness: weekly leads, monthly lags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lag is where the weekly and monthly series split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claims land about 19 days after the week they describe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and payrolls arrive together, ~50 days later, in one monthly report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release means U3 and NFP align for free; the PIT archive starts ~2007–2010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797296" y="2615523"/>
            <a:ext cx="5961888" cy="162695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7" name="Image 0" descr="exp/p0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670387"/>
            <a:ext cx="5852160" cy="15172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53218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lead on both frequency and lag; the rate and payrolls share one slower release.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868680" cy="566928"/>
          </a:xfrm>
          <a:prstGeom prst="roundRect">
            <a:avLst>
              <a:gd name="adj" fmla="val 14516"/>
            </a:avLst>
          </a:prstGeom>
          <a:solidFill>
            <a:srgbClr val="C77A2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number change after you learn it?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first published — is it the number, or a first guess quietly rewritten later?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observations ever revised: claims 3.3%, U3 86%, payrolls 99%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axis decides how hard you must work to avoid look-ahead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(claims) → recommended (U3) → mandatory (payrolls)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05856" y="2521226"/>
            <a:ext cx="6053328" cy="18155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576090"/>
            <a:ext cx="5943600" cy="17058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54132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V4, the whole story in one chart: the share of values ever revised after first release.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— essentially final on release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40773" y="475488"/>
            <a:ext cx="1726387" cy="420624"/>
          </a:xfrm>
          <a:prstGeom prst="roundRect">
            <a:avLst>
              <a:gd name="adj" fmla="val 17391"/>
            </a:avLst>
          </a:prstGeom>
          <a:solidFill>
            <a:srgbClr val="2F8F4E"/>
          </a:solidFill>
          <a:ln/>
        </p:spPr>
      </p:sp>
      <p:sp>
        <p:nvSpPr>
          <p:cNvPr id="6" name="Text 4"/>
          <p:cNvSpPr/>
          <p:nvPr/>
        </p:nvSpPr>
        <p:spPr>
          <a:xfrm>
            <a:off x="9840773" y="475488"/>
            <a:ext cx="1726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claims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3% of weekly values ever change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do, it’s usually a one-off data-entry fix — not a systematic correction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you saw in real time is essentially the number you see today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discipline is optional here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97296" y="2336303"/>
            <a:ext cx="5961888" cy="21853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391167"/>
            <a:ext cx="5852160" cy="20756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53218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V4: revisions hug zero across fifteen years; the few outliers are labelled input errors.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— tiny, rounding-level revisions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930384" y="475488"/>
            <a:ext cx="1636776" cy="420624"/>
          </a:xfrm>
          <a:prstGeom prst="roundRect">
            <a:avLst>
              <a:gd name="adj" fmla="val 17391"/>
            </a:avLst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9930384" y="47548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unemployment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months do get revised — but the rate is published to only 0.1pp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overwhelming majority of revisions are rounding-level nudges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years and the COVID shock produce the occasional move past a full point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day the first print is close to final — PIT recommended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97296" y="2410007"/>
            <a:ext cx="5961888" cy="203798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464871"/>
            <a:ext cx="5852160" cy="19282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53218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U3, V4: revisions pile up in the smallest bins — a tenth of a point either way.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 — the cautionary tale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40773" y="475488"/>
            <a:ext cx="1726387" cy="420624"/>
          </a:xfrm>
          <a:prstGeom prst="roundRect">
            <a:avLst>
              <a:gd name="adj" fmla="val 17391"/>
            </a:avLst>
          </a:prstGeom>
          <a:solidFill>
            <a:srgbClr val="C77A20"/>
          </a:solidFill>
          <a:ln/>
        </p:spPr>
      </p:sp>
      <p:sp>
        <p:nvSpPr>
          <p:cNvPr id="6" name="Text 4"/>
          <p:cNvSpPr/>
          <p:nvPr/>
        </p:nvSpPr>
        <p:spPr>
          <a:xfrm>
            <a:off x="9840773" y="475488"/>
            <a:ext cx="1726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Nonfarm payrolls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month is revised — and not by rounding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winter the whole recent history is re-anchored to the annual benchmark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can run to hundreds of thousands of jobs in a big state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real-time (orange) and revised (navy) is what a non-PIT backtest silently leaks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97296" y="2436806"/>
            <a:ext cx="5961888" cy="19843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491670"/>
            <a:ext cx="5852160" cy="18746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53218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Payrolls, V4: the orange real-time path pulls away from the navy revised history.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arrive in one burst — March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40773" y="475488"/>
            <a:ext cx="1726387" cy="420624"/>
          </a:xfrm>
          <a:prstGeom prst="roundRect">
            <a:avLst>
              <a:gd name="adj" fmla="val 17391"/>
            </a:avLst>
          </a:prstGeom>
          <a:solidFill>
            <a:srgbClr val="C77A20"/>
          </a:solidFill>
          <a:ln/>
        </p:spPr>
      </p:sp>
      <p:sp>
        <p:nvSpPr>
          <p:cNvPr id="6" name="Text 4"/>
          <p:cNvSpPr/>
          <p:nvPr/>
        </p:nvSpPr>
        <p:spPr>
          <a:xfrm>
            <a:off x="9840773" y="475488"/>
            <a:ext cx="1726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Nonfarm payrolls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don’t trickle randomly through the year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each month’s largest revision and one bar towers over the rest: March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March tower is the annual benchmark re-anchoring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on its release date — never spread it backward. PIT is mandatory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797296" y="2412599"/>
            <a:ext cx="5961888" cy="203280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pic>
        <p:nvPicPr>
          <p:cNvPr id="9" name="Image 0" descr="exp/p0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467463"/>
            <a:ext cx="5852160" cy="192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53218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Payrolls, V4: each observation’s biggest revision lands in March, benchmark season.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does this mean for a model?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plain questions, and the three datasets that looked interchangeable now sort themselves cleanly.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C5A8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856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 for what it 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22585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and payrolls are counts → model them in logs or growth rates. The unemployment rate is bounded → model percentage-point changes. Payrolls trend (use growth); claims and the rate cycle (the level is fair game).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94360" y="3264408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75888"/>
            <a:ext cx="548640" cy="548640"/>
          </a:xfrm>
          <a:prstGeom prst="ellipse">
            <a:avLst/>
          </a:prstGeom>
          <a:solidFill>
            <a:srgbClr val="1C5A8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429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two birthdays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831336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every feature by when it was knowable, not the period it measures — and enforce point-in-time in proportion to revisions: a nicety for claims, advisable for U3, non-negotiable for payrolls.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94360" y="4837176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F6F9FB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88900" dist="38100" dir="5400000">
              <a:srgbClr val="9AA9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248656"/>
            <a:ext cx="548640" cy="548640"/>
          </a:xfrm>
          <a:prstGeom prst="ellipse">
            <a:avLst/>
          </a:prstGeom>
          <a:solidFill>
            <a:srgbClr val="1C5A8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5001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with the right operator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54041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rebuild a national total, sum the counts — but you cannot sum rates. The national unemployment rate is a labor-force-weighted average of the state rates; the naïve average comes out biased low.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all three cleared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in the State Jobs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modules, applied identically to all three series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core checks in total: 38 PASS · 17 WARN · 0 FAIL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WARN is a documented handling rule, not an open defect</a:t>
            </a:r>
            <a:endParaRPr lang="en-US" sz="155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isn’t bad — it’s specific, and now the specifics are known</a:t>
            </a:r>
            <a:endParaRPr lang="en-US" sz="15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68680"/>
                <a:gridCol w="868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8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77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8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Continued claims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U3 unemployment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7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Nonfarm payrolls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5029200"/>
            <a:ext cx="1956816" cy="457200"/>
          </a:xfrm>
          <a:prstGeom prst="roundRect">
            <a:avLst>
              <a:gd name="adj" fmla="val 16000"/>
            </a:avLst>
          </a:prstGeom>
          <a:solidFill>
            <a:srgbClr val="2F8F4E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502920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PIT optional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18704" y="5029200"/>
            <a:ext cx="1871777" cy="457200"/>
          </a:xfrm>
          <a:prstGeom prst="roundRect">
            <a:avLst>
              <a:gd name="adj" fmla="val 16000"/>
            </a:avLst>
          </a:prstGeom>
          <a:solidFill>
            <a:srgbClr val="2E74B5"/>
          </a:solidFill>
          <a:ln/>
        </p:spPr>
      </p:sp>
      <p:sp>
        <p:nvSpPr>
          <p:cNvPr id="10" name="Text 7"/>
          <p:cNvSpPr/>
          <p:nvPr/>
        </p:nvSpPr>
        <p:spPr>
          <a:xfrm>
            <a:off x="7918704" y="5029200"/>
            <a:ext cx="1871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U3: PIT recommended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991649" y="5029200"/>
            <a:ext cx="1786738" cy="457200"/>
          </a:xfrm>
          <a:prstGeom prst="roundRect">
            <a:avLst>
              <a:gd name="adj" fmla="val 16000"/>
            </a:avLst>
          </a:prstGeom>
          <a:solidFill>
            <a:srgbClr val="C77A20"/>
          </a:solidFill>
          <a:ln/>
        </p:spPr>
      </p:sp>
      <p:sp>
        <p:nvSpPr>
          <p:cNvPr id="12" name="Text 9"/>
          <p:cNvSpPr/>
          <p:nvPr/>
        </p:nvSpPr>
        <p:spPr>
          <a:xfrm>
            <a:off x="9991649" y="5029200"/>
            <a:ext cx="1786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NFP: PIT mandatory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makes the data bad.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it specific.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series cleared validation.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exactly how they differ is the difference between a feature that helps and one that leaks.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the fine print is for.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Fine Print in the State Jobs Numbers</dc:title>
  <dc:subject>PptxGenJS Presentation</dc:subject>
  <dc:creator>CFM Quant Research</dc:creator>
  <cp:lastModifiedBy>CFM Quant Research</cp:lastModifiedBy>
  <cp:revision>1</cp:revision>
  <dcterms:created xsi:type="dcterms:W3CDTF">2026-07-08T18:20:23Z</dcterms:created>
  <dcterms:modified xsi:type="dcterms:W3CDTF">2026-07-08T18:20:23Z</dcterms:modified>
</cp:coreProperties>
</file>